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corporate_academic_slide_backgrou.png"/>
          <p:cNvPicPr>
            <a:picLocks noChangeAspect="1"/>
          </p:cNvPicPr>
          <p:nvPr/>
        </p:nvPicPr>
        <p:blipFill>
          <a:blip r:embed="rId2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417320"/>
            <a:ext cx="7452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96112" y="22128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96112" y="2697480"/>
            <a:ext cx="1417320" cy="548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" y="53492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58200" y="6263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Generated Text 8"/>
          <p:cNvSpPr/>
          <p:nvPr/>
        </p:nvSpPr>
        <p:spPr>
          <a:xfrm>
            <a:off x="876300" y="1333500"/>
            <a:ext cx="7429500" cy="8763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Risk Analysis of Public EV Charging Stations</a:t>
            </a:r>
            <a:endParaRPr lang="en-US" sz="2450" dirty="0"/>
          </a:p>
        </p:txBody>
      </p:sp>
      <p:sp>
        <p:nvSpPr>
          <p:cNvPr id="9" name="Generated Text 9"/>
          <p:cNvSpPr/>
          <p:nvPr/>
        </p:nvSpPr>
        <p:spPr>
          <a:xfrm>
            <a:off x="895350" y="2305050"/>
            <a:ext cx="6191250" cy="3048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Monte Carlo Simulation · Queueing Model · Risk Analysis</a:t>
            </a:r>
            <a:endParaRPr lang="en-US" sz="1400" dirty="0"/>
          </a:p>
        </p:txBody>
      </p:sp>
      <p:sp>
        <p:nvSpPr>
          <p:cNvPr id="10" name="Generated Text 10"/>
          <p:cNvSpPr/>
          <p:nvPr/>
        </p:nvSpPr>
        <p:spPr>
          <a:xfrm>
            <a:off x="895350" y="5429250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| Jiang Haoran · Zhu Zelin · Lu Xinyu · Gong Yihang</a:t>
            </a:r>
            <a:endParaRPr lang="en-US" sz="850" dirty="0"/>
          </a:p>
        </p:txBody>
      </p:sp>
      <p:sp>
        <p:nvSpPr>
          <p:cNvPr id="11" name="Generated Text 11"/>
          <p:cNvSpPr/>
          <p:nvPr/>
        </p:nvSpPr>
        <p:spPr>
          <a:xfrm>
            <a:off x="9525000" y="634365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Graduate Course Project Defense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roadmap for the EV charging station risk analysis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sp>
        <p:nvSpPr>
          <p:cNvPr id="11" name="Generated Text 11"/>
          <p:cNvSpPr/>
          <p:nvPr/>
        </p:nvSpPr>
        <p:spPr>
          <a:xfrm>
            <a:off x="1000125" y="1390650"/>
            <a:ext cx="514350" cy="28575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9050" tIns="19050" rIns="19050" bIns="1905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Generated Text 12"/>
          <p:cNvSpPr/>
          <p:nvPr/>
        </p:nvSpPr>
        <p:spPr>
          <a:xfrm>
            <a:off x="1790700" y="138112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Context</a:t>
            </a:r>
            <a:endParaRPr lang="en-US" sz="1450" dirty="0"/>
          </a:p>
        </p:txBody>
      </p:sp>
      <p:sp>
        <p:nvSpPr>
          <p:cNvPr id="13" name="Generated Text 13"/>
          <p:cNvSpPr/>
          <p:nvPr/>
        </p:nvSpPr>
        <p:spPr>
          <a:xfrm>
            <a:off x="5000625" y="1409700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questions and business risk logic</a:t>
            </a:r>
            <a:endParaRPr lang="en-US" sz="940" dirty="0"/>
          </a:p>
        </p:txBody>
      </p:sp>
      <p:sp>
        <p:nvSpPr>
          <p:cNvPr id="14" name="Generated Text 14"/>
          <p:cNvSpPr/>
          <p:nvPr/>
        </p:nvSpPr>
        <p:spPr>
          <a:xfrm>
            <a:off x="1000125" y="2105025"/>
            <a:ext cx="514350" cy="28575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9050" tIns="19050" rIns="19050" bIns="1905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Generated Text 15"/>
          <p:cNvSpPr/>
          <p:nvPr/>
        </p:nvSpPr>
        <p:spPr>
          <a:xfrm>
            <a:off x="1790700" y="20955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Parameters</a:t>
            </a:r>
            <a:endParaRPr lang="en-US" sz="1450" dirty="0"/>
          </a:p>
        </p:txBody>
      </p:sp>
      <p:sp>
        <p:nvSpPr>
          <p:cNvPr id="16" name="Generated Text 16"/>
          <p:cNvSpPr/>
          <p:nvPr/>
        </p:nvSpPr>
        <p:spPr>
          <a:xfrm>
            <a:off x="5000625" y="2124075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UrbanEV files, cleaning, station-level inputs</a:t>
            </a:r>
            <a:endParaRPr lang="en-US" sz="940" dirty="0"/>
          </a:p>
        </p:txBody>
      </p:sp>
      <p:sp>
        <p:nvSpPr>
          <p:cNvPr id="17" name="Generated Text 17"/>
          <p:cNvSpPr/>
          <p:nvPr/>
        </p:nvSpPr>
        <p:spPr>
          <a:xfrm>
            <a:off x="1000125" y="2819400"/>
            <a:ext cx="514350" cy="28575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9050" tIns="19050" rIns="19050" bIns="1905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Generated Text 18"/>
          <p:cNvSpPr/>
          <p:nvPr/>
        </p:nvSpPr>
        <p:spPr>
          <a:xfrm>
            <a:off x="1790700" y="280987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Design</a:t>
            </a:r>
            <a:endParaRPr lang="en-US" sz="1450" dirty="0"/>
          </a:p>
        </p:txBody>
      </p:sp>
      <p:sp>
        <p:nvSpPr>
          <p:cNvPr id="19" name="Generated Text 19"/>
          <p:cNvSpPr/>
          <p:nvPr/>
        </p:nvSpPr>
        <p:spPr>
          <a:xfrm>
            <a:off x="5000625" y="2838450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M/G/c queueing + Monte Carlo risk simulation</a:t>
            </a:r>
            <a:endParaRPr lang="en-US" sz="940" dirty="0"/>
          </a:p>
        </p:txBody>
      </p:sp>
      <p:sp>
        <p:nvSpPr>
          <p:cNvPr id="20" name="Generated Text 20"/>
          <p:cNvSpPr/>
          <p:nvPr/>
        </p:nvSpPr>
        <p:spPr>
          <a:xfrm>
            <a:off x="1000125" y="3533775"/>
            <a:ext cx="514350" cy="28575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9050" tIns="19050" rIns="19050" bIns="1905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1" name="Generated Text 21"/>
          <p:cNvSpPr/>
          <p:nvPr/>
        </p:nvSpPr>
        <p:spPr>
          <a:xfrm>
            <a:off x="1790700" y="352425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&amp; Risk Metrics</a:t>
            </a:r>
            <a:endParaRPr lang="en-US" sz="1450" dirty="0"/>
          </a:p>
        </p:txBody>
      </p:sp>
      <p:sp>
        <p:nvSpPr>
          <p:cNvPr id="22" name="Generated Text 22"/>
          <p:cNvSpPr/>
          <p:nvPr/>
        </p:nvSpPr>
        <p:spPr>
          <a:xfrm>
            <a:off x="5000625" y="3552825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distribution, VaR, CVaR, loss probability</a:t>
            </a:r>
            <a:endParaRPr lang="en-US" sz="940" dirty="0"/>
          </a:p>
        </p:txBody>
      </p:sp>
      <p:sp>
        <p:nvSpPr>
          <p:cNvPr id="23" name="Generated Text 23"/>
          <p:cNvSpPr/>
          <p:nvPr/>
        </p:nvSpPr>
        <p:spPr>
          <a:xfrm>
            <a:off x="1000125" y="4248150"/>
            <a:ext cx="514350" cy="28575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9050" tIns="19050" rIns="19050" bIns="1905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24" name="Generated Text 24"/>
          <p:cNvSpPr/>
          <p:nvPr/>
        </p:nvSpPr>
        <p:spPr>
          <a:xfrm>
            <a:off x="1790700" y="423862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Analysis</a:t>
            </a:r>
            <a:endParaRPr lang="en-US" sz="1450" dirty="0"/>
          </a:p>
        </p:txBody>
      </p:sp>
      <p:sp>
        <p:nvSpPr>
          <p:cNvPr id="25" name="Generated Text 25"/>
          <p:cNvSpPr/>
          <p:nvPr/>
        </p:nvSpPr>
        <p:spPr>
          <a:xfrm>
            <a:off x="5000625" y="4267200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Demand, capacity, dwell-time penalty stress tests</a:t>
            </a:r>
            <a:endParaRPr lang="en-US" sz="940" dirty="0"/>
          </a:p>
        </p:txBody>
      </p:sp>
      <p:sp>
        <p:nvSpPr>
          <p:cNvPr id="26" name="Generated Text 26"/>
          <p:cNvSpPr/>
          <p:nvPr/>
        </p:nvSpPr>
        <p:spPr>
          <a:xfrm>
            <a:off x="1000125" y="4962525"/>
            <a:ext cx="514350" cy="28575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9050" tIns="19050" rIns="19050" bIns="1905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Generated Text 27"/>
          <p:cNvSpPr/>
          <p:nvPr/>
        </p:nvSpPr>
        <p:spPr>
          <a:xfrm>
            <a:off x="1790700" y="49530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28" name="Generated Text 28"/>
          <p:cNvSpPr/>
          <p:nvPr/>
        </p:nvSpPr>
        <p:spPr>
          <a:xfrm>
            <a:off x="5000625" y="4981575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Pricing, expansion trigger, procurement hedging</a:t>
            </a:r>
            <a:endParaRPr lang="en-US" sz="940" dirty="0"/>
          </a:p>
        </p:txBody>
      </p:sp>
      <p:sp>
        <p:nvSpPr>
          <p:cNvPr id="29" name="Generated Text 29"/>
          <p:cNvSpPr/>
          <p:nvPr/>
        </p:nvSpPr>
        <p:spPr>
          <a:xfrm>
            <a:off x="9096375" y="1381125"/>
            <a:ext cx="2333625" cy="4333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emphasis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exact data pipeline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highlight profit tail risk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 queueing outputs to profit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end with actionable thresholds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Context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Profitability must be read as a distribution, not an average.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sp>
        <p:nvSpPr>
          <p:cNvPr id="11" name="Generated Text 11"/>
          <p:cNvSpPr/>
          <p:nvPr/>
        </p:nvSpPr>
        <p:spPr>
          <a:xfrm>
            <a:off x="819150" y="1238250"/>
            <a:ext cx="4191000" cy="3048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12" name="Generated Text 12"/>
          <p:cNvSpPr/>
          <p:nvPr/>
        </p:nvSpPr>
        <p:spPr>
          <a:xfrm>
            <a:off x="819150" y="1581150"/>
            <a:ext cx="4191000" cy="13525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Scale does not guarantee station-level profit.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Average budgets hide left-tail cash-flow risk.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Operators need P(loss), VaR/CVaR, and congestion impact.</a:t>
            </a:r>
            <a:endParaRPr lang="en-US" sz="970" dirty="0"/>
          </a:p>
        </p:txBody>
      </p:sp>
      <p:sp>
        <p:nvSpPr>
          <p:cNvPr id="13" name="Generated Text 13"/>
          <p:cNvSpPr/>
          <p:nvPr/>
        </p:nvSpPr>
        <p:spPr>
          <a:xfrm>
            <a:off x="5353050" y="1238250"/>
            <a:ext cx="5962650" cy="16192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questions</a:t>
            </a:r>
            <a:endParaRPr lang="en-US" sz="1150" dirty="0"/>
          </a:p>
        </p:txBody>
      </p:sp>
      <p:sp>
        <p:nvSpPr>
          <p:cNvPr id="14" name="Generated Text 14"/>
          <p:cNvSpPr/>
          <p:nvPr/>
        </p:nvSpPr>
        <p:spPr>
          <a:xfrm>
            <a:off x="5353050" y="1581150"/>
            <a:ext cx="5962650" cy="13525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RQ1: What does the daily profit distribution look like?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RQ2: How does dwell time turn congestion into financial risk?</a:t>
            </a:r>
            <a:endParaRPr lang="en-US" sz="1000" dirty="0"/>
          </a:p>
        </p:txBody>
      </p:sp>
      <p:sp>
        <p:nvSpPr>
          <p:cNvPr id="15" name="Generated Text 15"/>
          <p:cNvSpPr/>
          <p:nvPr/>
        </p:nvSpPr>
        <p:spPr>
          <a:xfrm>
            <a:off x="819150" y="3429000"/>
            <a:ext cx="4953000" cy="3048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simulation</a:t>
            </a:r>
            <a:endParaRPr lang="en-US" sz="1200" dirty="0"/>
          </a:p>
        </p:txBody>
      </p:sp>
      <p:sp>
        <p:nvSpPr>
          <p:cNvPr id="16" name="Generated Text 16"/>
          <p:cNvSpPr/>
          <p:nvPr/>
        </p:nvSpPr>
        <p:spPr>
          <a:xfrm>
            <a:off x="819150" y="3771900"/>
            <a:ext cx="4953000" cy="11811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Monte Carlo handles simultaneous stochastic inputs.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M/G/c queueing captures multi-charger waiting and dwell time.</a:t>
            </a:r>
            <a:endParaRPr lang="en-US" sz="1000" dirty="0"/>
          </a:p>
        </p:txBody>
      </p:sp>
      <p:sp>
        <p:nvSpPr>
          <p:cNvPr id="17" name="Generated Text 17"/>
          <p:cNvSpPr/>
          <p:nvPr/>
        </p:nvSpPr>
        <p:spPr>
          <a:xfrm>
            <a:off x="6096000" y="3429000"/>
            <a:ext cx="5238750" cy="200025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thesis</a:t>
            </a:r>
            <a:endParaRPr lang="en-US" sz="1250" dirty="0"/>
          </a:p>
        </p:txBody>
      </p:sp>
      <p:sp>
        <p:nvSpPr>
          <p:cNvPr id="18" name="Generated Text 18"/>
          <p:cNvSpPr/>
          <p:nvPr/>
        </p:nvSpPr>
        <p:spPr>
          <a:xfrm>
            <a:off x="6286500" y="3952875"/>
            <a:ext cx="4762500" cy="781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station is profitable on average, but financially fragile because downside days are frequent.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UrbanEV Evidence Base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 geography and operating records define the empirical inputs.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pic>
        <p:nvPicPr>
          <p:cNvPr id="11" name="Shenzhen station map"/>
          <p:cNvPicPr/>
          <p:nvPr/>
        </p:nvPicPr>
        <p:blipFill>
          <a:blip r:embed="rId2"/>
          <a:stretch>
            <a:fillRect/>
          </a:stretch>
        </p:blipFill>
        <p:spPr>
          <a:xfrm>
            <a:off x="742950" y="1733950"/>
            <a:ext cx="4762500" cy="2770975"/>
          </a:xfrm>
          <a:prstGeom prst="rect">
            <a:avLst/>
          </a:prstGeom>
        </p:spPr>
      </p:pic>
      <p:sp>
        <p:nvSpPr>
          <p:cNvPr id="12" name="Generated Text 12"/>
          <p:cNvSpPr/>
          <p:nvPr/>
        </p:nvSpPr>
        <p:spPr>
          <a:xfrm>
            <a:off x="742950" y="5095875"/>
            <a:ext cx="4762500" cy="4381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evidence: 275 TAZs and 1,362 public charging stations.</a:t>
            </a:r>
            <a:endParaRPr lang="en-US" sz="1050" dirty="0"/>
          </a:p>
        </p:txBody>
      </p:sp>
      <p:sp>
        <p:nvSpPr>
          <p:cNvPr id="13" name="Generated Text 13"/>
          <p:cNvSpPr/>
          <p:nvPr/>
        </p:nvSpPr>
        <p:spPr>
          <a:xfrm>
            <a:off x="5905500" y="1333500"/>
            <a:ext cx="495300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UrbanEV files used</a:t>
            </a:r>
            <a:endParaRPr lang="en-US" sz="1200" dirty="0"/>
          </a:p>
        </p:txBody>
      </p:sp>
      <p:sp>
        <p:nvSpPr>
          <p:cNvPr id="14" name="Generated Text 14"/>
          <p:cNvSpPr/>
          <p:nvPr/>
        </p:nvSpPr>
        <p:spPr>
          <a:xfrm>
            <a:off x="5905500" y="1714500"/>
            <a:ext cx="4953000" cy="14097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inf.csv — station metadata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occupancy.csv — concurrent sessions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duration.csv — service duration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volume-11kW.csv — energy volume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e_price.csv / s_price.csv — price inputs</a:t>
            </a:r>
            <a:endParaRPr lang="en-US" sz="1020" dirty="0"/>
          </a:p>
        </p:txBody>
      </p:sp>
      <p:sp>
        <p:nvSpPr>
          <p:cNvPr id="15" name="Generated Text 15"/>
          <p:cNvSpPr/>
          <p:nvPr/>
        </p:nvSpPr>
        <p:spPr>
          <a:xfrm>
            <a:off x="5905500" y="3476625"/>
            <a:ext cx="495300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Pre-processing logic</a:t>
            </a:r>
            <a:endParaRPr lang="en-US" sz="1200" dirty="0"/>
          </a:p>
        </p:txBody>
      </p:sp>
      <p:sp>
        <p:nvSpPr>
          <p:cNvPr id="16" name="Generated Text 16"/>
          <p:cNvSpPr/>
          <p:nvPr/>
        </p:nvSpPr>
        <p:spPr>
          <a:xfrm>
            <a:off x="5905500" y="3857625"/>
            <a:ext cx="4953000" cy="1257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Align common TAZ columns.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Trim extreme duration and kWh observations.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 implausible prices outside 0.1–5.0 RMB/kWh.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Parameters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TAZ-hour aggregates become station-level assumptions.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sp>
        <p:nvSpPr>
          <p:cNvPr id="11" name="Generated Text 11"/>
          <p:cNvSpPr/>
          <p:nvPr/>
        </p:nvSpPr>
        <p:spPr>
          <a:xfrm>
            <a:off x="904875" y="1381125"/>
            <a:ext cx="204787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950" dirty="0"/>
          </a:p>
        </p:txBody>
      </p:sp>
      <p:sp>
        <p:nvSpPr>
          <p:cNvPr id="12" name="Generated Text 12"/>
          <p:cNvSpPr/>
          <p:nvPr/>
        </p:nvSpPr>
        <p:spPr>
          <a:xfrm>
            <a:off x="904875" y="1914525"/>
            <a:ext cx="204787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chargers per station</a:t>
            </a:r>
            <a:endParaRPr lang="en-US" sz="800" dirty="0"/>
          </a:p>
        </p:txBody>
      </p:sp>
      <p:sp>
        <p:nvSpPr>
          <p:cNvPr id="13" name="Generated Text 13"/>
          <p:cNvSpPr/>
          <p:nvPr/>
        </p:nvSpPr>
        <p:spPr>
          <a:xfrm>
            <a:off x="3476625" y="1381125"/>
            <a:ext cx="204787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3.0682</a:t>
            </a:r>
            <a:endParaRPr lang="en-US" sz="1950" dirty="0"/>
          </a:p>
        </p:txBody>
      </p:sp>
      <p:sp>
        <p:nvSpPr>
          <p:cNvPr id="14" name="Generated Text 14"/>
          <p:cNvSpPr/>
          <p:nvPr/>
        </p:nvSpPr>
        <p:spPr>
          <a:xfrm>
            <a:off x="3476625" y="1914525"/>
            <a:ext cx="204787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 rate λ / hour</a:t>
            </a:r>
            <a:endParaRPr lang="en-US" sz="800" dirty="0"/>
          </a:p>
        </p:txBody>
      </p:sp>
      <p:sp>
        <p:nvSpPr>
          <p:cNvPr id="15" name="Generated Text 15"/>
          <p:cNvSpPr/>
          <p:nvPr/>
        </p:nvSpPr>
        <p:spPr>
          <a:xfrm>
            <a:off x="6048375" y="1381125"/>
            <a:ext cx="204787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1.3815</a:t>
            </a:r>
            <a:endParaRPr lang="en-US" sz="1950" dirty="0"/>
          </a:p>
        </p:txBody>
      </p:sp>
      <p:sp>
        <p:nvSpPr>
          <p:cNvPr id="16" name="Generated Text 16"/>
          <p:cNvSpPr/>
          <p:nvPr/>
        </p:nvSpPr>
        <p:spPr>
          <a:xfrm>
            <a:off x="6048375" y="1914525"/>
            <a:ext cx="204787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rate μ / hour</a:t>
            </a:r>
            <a:endParaRPr lang="en-US" sz="800" dirty="0"/>
          </a:p>
        </p:txBody>
      </p:sp>
      <p:sp>
        <p:nvSpPr>
          <p:cNvPr id="17" name="Generated Text 17"/>
          <p:cNvSpPr/>
          <p:nvPr/>
        </p:nvSpPr>
        <p:spPr>
          <a:xfrm>
            <a:off x="8620125" y="1381125"/>
            <a:ext cx="204787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0.365</a:t>
            </a:r>
            <a:endParaRPr lang="en-US" sz="1950" dirty="0"/>
          </a:p>
        </p:txBody>
      </p:sp>
      <p:sp>
        <p:nvSpPr>
          <p:cNvPr id="18" name="Generated Text 18"/>
          <p:cNvSpPr/>
          <p:nvPr/>
        </p:nvSpPr>
        <p:spPr>
          <a:xfrm>
            <a:off x="8620125" y="1914525"/>
            <a:ext cx="204787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service-time CV</a:t>
            </a:r>
            <a:endParaRPr lang="en-US" sz="800" dirty="0"/>
          </a:p>
        </p:txBody>
      </p:sp>
      <p:sp>
        <p:nvSpPr>
          <p:cNvPr id="19" name="Generated Text 19"/>
          <p:cNvSpPr/>
          <p:nvPr/>
        </p:nvSpPr>
        <p:spPr>
          <a:xfrm>
            <a:off x="904875" y="2857500"/>
            <a:ext cx="5000625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inputs</a:t>
            </a:r>
            <a:endParaRPr lang="en-US" sz="1200" dirty="0"/>
          </a:p>
        </p:txBody>
      </p:sp>
      <p:sp>
        <p:nvSpPr>
          <p:cNvPr id="20" name="Generated Text 20"/>
          <p:cNvSpPr/>
          <p:nvPr/>
        </p:nvSpPr>
        <p:spPr>
          <a:xfrm>
            <a:off x="904875" y="3238500"/>
            <a:ext cx="5000625" cy="1381125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Fixed operating cost: 300 RMB/day.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Wholesale benchmark: 0.55 RMB/kWh.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Peak/off-peak split exposes hidden pressure.</a:t>
            </a:r>
            <a:endParaRPr lang="en-US" sz="1050" dirty="0"/>
          </a:p>
        </p:txBody>
      </p:sp>
      <p:sp>
        <p:nvSpPr>
          <p:cNvPr id="21" name="Generated Text 21"/>
          <p:cNvSpPr/>
          <p:nvPr/>
        </p:nvSpPr>
        <p:spPr>
          <a:xfrm>
            <a:off x="6191250" y="2857500"/>
            <a:ext cx="5095875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assumption</a:t>
            </a:r>
            <a:endParaRPr lang="en-US" sz="1200" dirty="0"/>
          </a:p>
        </p:txBody>
      </p:sp>
      <p:sp>
        <p:nvSpPr>
          <p:cNvPr id="22" name="Generated Text 22"/>
          <p:cNvSpPr/>
          <p:nvPr/>
        </p:nvSpPr>
        <p:spPr>
          <a:xfrm>
            <a:off x="6191250" y="3238500"/>
            <a:ext cx="5095875" cy="1381125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service-time CV is below 1, a plain M/M/c model would overstate waiting time. The deck uses an M/G/c correction.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Simulation Design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Queueing outputs enter the profit model as a dwell-time cost.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sp>
        <p:nvSpPr>
          <p:cNvPr id="11" name="Generated Text 11"/>
          <p:cNvSpPr/>
          <p:nvPr/>
        </p:nvSpPr>
        <p:spPr>
          <a:xfrm>
            <a:off x="762000" y="1219200"/>
            <a:ext cx="106680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12" name="Workflow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1012031" y="1409700"/>
            <a:ext cx="5786438" cy="3857625"/>
          </a:xfrm>
          <a:prstGeom prst="rect">
            <a:avLst/>
          </a:prstGeom>
        </p:spPr>
      </p:pic>
      <p:sp>
        <p:nvSpPr>
          <p:cNvPr id="13" name="Generated Text 13"/>
          <p:cNvSpPr/>
          <p:nvPr/>
        </p:nvSpPr>
        <p:spPr>
          <a:xfrm>
            <a:off x="7143750" y="1504950"/>
            <a:ext cx="3333750" cy="70485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Queueing layer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λ, μ, c, CV → Wq, W</a:t>
            </a:r>
            <a:endParaRPr lang="en-US" sz="1200" dirty="0"/>
          </a:p>
        </p:txBody>
      </p:sp>
      <p:sp>
        <p:nvSpPr>
          <p:cNvPr id="14" name="Generated Text 14"/>
          <p:cNvSpPr/>
          <p:nvPr/>
        </p:nvSpPr>
        <p:spPr>
          <a:xfrm>
            <a:off x="7143750" y="2476500"/>
            <a:ext cx="3333750" cy="7048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Monte Carlo layer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 days → profit distribution</a:t>
            </a:r>
            <a:endParaRPr lang="en-US" sz="1200" dirty="0"/>
          </a:p>
        </p:txBody>
      </p:sp>
      <p:sp>
        <p:nvSpPr>
          <p:cNvPr id="15" name="Generated Text 15"/>
          <p:cNvSpPr/>
          <p:nvPr/>
        </p:nvSpPr>
        <p:spPr>
          <a:xfrm>
            <a:off x="7143750" y="3448050"/>
            <a:ext cx="3333750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layer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VaR, CVaR, P(loss) → pricing/capacity</a:t>
            </a:r>
            <a:endParaRPr lang="en-US" sz="1200" dirty="0"/>
          </a:p>
        </p:txBody>
      </p:sp>
      <p:sp>
        <p:nvSpPr>
          <p:cNvPr id="16" name="Generated Text 16"/>
          <p:cNvSpPr/>
          <p:nvPr/>
        </p:nvSpPr>
        <p:spPr>
          <a:xfrm>
            <a:off x="904875" y="5095875"/>
            <a:ext cx="10334625" cy="4572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bridge: M/G/c provides total dwell time W; Monte Carlo subtracts dwell-time opportunity cost from each simulated day.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Pressure Is Hidden by Averages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Peak-hour utilisation is materially higher than the all-day average.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sp>
        <p:nvSpPr>
          <p:cNvPr id="11" name="Generated Text 11"/>
          <p:cNvSpPr/>
          <p:nvPr/>
        </p:nvSpPr>
        <p:spPr>
          <a:xfrm>
            <a:off x="1095375" y="1381125"/>
            <a:ext cx="17621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0.5125</a:t>
            </a:r>
            <a:endParaRPr lang="en-US" sz="1950" dirty="0"/>
          </a:p>
        </p:txBody>
      </p:sp>
      <p:sp>
        <p:nvSpPr>
          <p:cNvPr id="12" name="Generated Text 12"/>
          <p:cNvSpPr/>
          <p:nvPr/>
        </p:nvSpPr>
        <p:spPr>
          <a:xfrm>
            <a:off x="1095375" y="1914525"/>
            <a:ext cx="17621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utilisation ρ</a:t>
            </a:r>
            <a:endParaRPr lang="en-US" sz="800" dirty="0"/>
          </a:p>
        </p:txBody>
      </p:sp>
      <p:sp>
        <p:nvSpPr>
          <p:cNvPr id="13" name="Generated Text 13"/>
          <p:cNvSpPr/>
          <p:nvPr/>
        </p:nvSpPr>
        <p:spPr>
          <a:xfrm>
            <a:off x="3095625" y="1381125"/>
            <a:ext cx="17621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2.14%</a:t>
            </a:r>
            <a:endParaRPr lang="en-US" sz="1950" dirty="0"/>
          </a:p>
        </p:txBody>
      </p:sp>
      <p:sp>
        <p:nvSpPr>
          <p:cNvPr id="14" name="Generated Text 14"/>
          <p:cNvSpPr/>
          <p:nvPr/>
        </p:nvSpPr>
        <p:spPr>
          <a:xfrm>
            <a:off x="3095625" y="1914525"/>
            <a:ext cx="17621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P(wait)</a:t>
            </a:r>
            <a:endParaRPr lang="en-US" sz="800" dirty="0"/>
          </a:p>
        </p:txBody>
      </p:sp>
      <p:sp>
        <p:nvSpPr>
          <p:cNvPr id="15" name="Generated Text 15"/>
          <p:cNvSpPr/>
          <p:nvPr/>
        </p:nvSpPr>
        <p:spPr>
          <a:xfrm>
            <a:off x="5095875" y="1381125"/>
            <a:ext cx="17621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0.083</a:t>
            </a:r>
            <a:endParaRPr lang="en-US" sz="1950" dirty="0"/>
          </a:p>
        </p:txBody>
      </p:sp>
      <p:sp>
        <p:nvSpPr>
          <p:cNvPr id="16" name="Generated Text 16"/>
          <p:cNvSpPr/>
          <p:nvPr/>
        </p:nvSpPr>
        <p:spPr>
          <a:xfrm>
            <a:off x="5095875" y="1914525"/>
            <a:ext cx="17621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M/G/c Wq min</a:t>
            </a:r>
            <a:endParaRPr lang="en-US" sz="800" dirty="0"/>
          </a:p>
        </p:txBody>
      </p:sp>
      <p:sp>
        <p:nvSpPr>
          <p:cNvPr id="17" name="Generated Text 17"/>
          <p:cNvSpPr/>
          <p:nvPr/>
        </p:nvSpPr>
        <p:spPr>
          <a:xfrm>
            <a:off x="7096125" y="1381125"/>
            <a:ext cx="17621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43.5</a:t>
            </a:r>
            <a:endParaRPr lang="en-US" sz="1950" dirty="0"/>
          </a:p>
        </p:txBody>
      </p:sp>
      <p:sp>
        <p:nvSpPr>
          <p:cNvPr id="18" name="Generated Text 18"/>
          <p:cNvSpPr/>
          <p:nvPr/>
        </p:nvSpPr>
        <p:spPr>
          <a:xfrm>
            <a:off x="7096125" y="1914525"/>
            <a:ext cx="17621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dwell min</a:t>
            </a:r>
            <a:endParaRPr lang="en-US" sz="800" dirty="0"/>
          </a:p>
        </p:txBody>
      </p:sp>
      <p:sp>
        <p:nvSpPr>
          <p:cNvPr id="19" name="Generated Text 19"/>
          <p:cNvSpPr/>
          <p:nvPr/>
        </p:nvSpPr>
        <p:spPr>
          <a:xfrm>
            <a:off x="9096375" y="1381125"/>
            <a:ext cx="17621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36.8</a:t>
            </a:r>
            <a:endParaRPr lang="en-US" sz="1950" dirty="0"/>
          </a:p>
        </p:txBody>
      </p:sp>
      <p:sp>
        <p:nvSpPr>
          <p:cNvPr id="20" name="Generated Text 20"/>
          <p:cNvSpPr/>
          <p:nvPr/>
        </p:nvSpPr>
        <p:spPr>
          <a:xfrm>
            <a:off x="9096375" y="1914525"/>
            <a:ext cx="17621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 / segment</a:t>
            </a:r>
            <a:endParaRPr lang="en-US" sz="800" dirty="0"/>
          </a:p>
        </p:txBody>
      </p:sp>
      <p:sp>
        <p:nvSpPr>
          <p:cNvPr id="21" name="Generated Text 21"/>
          <p:cNvSpPr/>
          <p:nvPr/>
        </p:nvSpPr>
        <p:spPr>
          <a:xfrm>
            <a:off x="904875" y="3143250"/>
            <a:ext cx="495300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interpretation</a:t>
            </a:r>
            <a:endParaRPr lang="en-US" sz="1200" dirty="0"/>
          </a:p>
        </p:txBody>
      </p:sp>
      <p:sp>
        <p:nvSpPr>
          <p:cNvPr id="22" name="Generated Text 22"/>
          <p:cNvSpPr/>
          <p:nvPr/>
        </p:nvSpPr>
        <p:spPr>
          <a:xfrm>
            <a:off x="904875" y="3524250"/>
            <a:ext cx="4953000" cy="9906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All-day utilisation is only 0.1709, so an average view looks safe.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Peak utilisation is three times higher and concentrates waiting risk.</a:t>
            </a:r>
            <a:endParaRPr lang="en-US" sz="980" dirty="0"/>
          </a:p>
        </p:txBody>
      </p:sp>
      <p:sp>
        <p:nvSpPr>
          <p:cNvPr id="23" name="Generated Text 23"/>
          <p:cNvSpPr/>
          <p:nvPr/>
        </p:nvSpPr>
        <p:spPr>
          <a:xfrm>
            <a:off x="6191250" y="3143250"/>
            <a:ext cx="5095875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interpretation</a:t>
            </a:r>
            <a:endParaRPr lang="en-US" sz="1200" dirty="0"/>
          </a:p>
        </p:txBody>
      </p:sp>
      <p:sp>
        <p:nvSpPr>
          <p:cNvPr id="24" name="Generated Text 24"/>
          <p:cNvSpPr/>
          <p:nvPr/>
        </p:nvSpPr>
        <p:spPr>
          <a:xfrm>
            <a:off x="6191250" y="3524250"/>
            <a:ext cx="5095875" cy="9906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queue delay is short at baseline.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Operator cost is driven by total station occupation time, including active charging.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Stochastic Profit Engine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 simulated operating days generate the profit-risk distribution.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sp>
        <p:nvSpPr>
          <p:cNvPr id="11" name="Generated Text 11"/>
          <p:cNvSpPr/>
          <p:nvPr/>
        </p:nvSpPr>
        <p:spPr>
          <a:xfrm>
            <a:off x="857250" y="1381125"/>
            <a:ext cx="285750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inputs</a:t>
            </a:r>
            <a:endParaRPr lang="en-US" sz="1200" dirty="0"/>
          </a:p>
        </p:txBody>
      </p:sp>
      <p:sp>
        <p:nvSpPr>
          <p:cNvPr id="12" name="Generated Text 12"/>
          <p:cNvSpPr/>
          <p:nvPr/>
        </p:nvSpPr>
        <p:spPr>
          <a:xfrm>
            <a:off x="857250" y="1762125"/>
            <a:ext cx="2857500" cy="2333625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Peak sessions: Poisson(λpeak × 4)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Off-peak sessions: Poisson(λoff × 20)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kWh/session: clipped empirical normal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Prices and wholesale cost: bounded shocks</a:t>
            </a:r>
            <a:endParaRPr lang="en-US" sz="900" dirty="0"/>
          </a:p>
        </p:txBody>
      </p:sp>
      <p:sp>
        <p:nvSpPr>
          <p:cNvPr id="13" name="Generated Text 13"/>
          <p:cNvSpPr/>
          <p:nvPr/>
        </p:nvSpPr>
        <p:spPr>
          <a:xfrm>
            <a:off x="4095750" y="1381125"/>
            <a:ext cx="3667125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equation</a:t>
            </a:r>
            <a:endParaRPr lang="en-US" sz="1200" dirty="0"/>
          </a:p>
        </p:txBody>
      </p:sp>
      <p:sp>
        <p:nvSpPr>
          <p:cNvPr id="14" name="Generated Text 14"/>
          <p:cNvSpPr/>
          <p:nvPr/>
        </p:nvSpPr>
        <p:spPr>
          <a:xfrm>
            <a:off x="4095750" y="1952625"/>
            <a:ext cx="3667125" cy="1095375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= Revenue − Energy Cost − Fixed Cost − Dwell-Time Penalty</a:t>
            </a:r>
            <a:endParaRPr lang="en-US" sz="1500" dirty="0"/>
          </a:p>
        </p:txBody>
      </p:sp>
      <p:sp>
        <p:nvSpPr>
          <p:cNvPr id="15" name="Generated Text 15"/>
          <p:cNvSpPr/>
          <p:nvPr/>
        </p:nvSpPr>
        <p:spPr>
          <a:xfrm>
            <a:off x="4400550" y="3333750"/>
            <a:ext cx="3048000" cy="64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 iterations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seed = 42</a:t>
            </a:r>
            <a:endParaRPr lang="en-US" sz="1400" dirty="0"/>
          </a:p>
        </p:txBody>
      </p:sp>
      <p:sp>
        <p:nvSpPr>
          <p:cNvPr id="16" name="Generated Text 16"/>
          <p:cNvSpPr/>
          <p:nvPr/>
        </p:nvSpPr>
        <p:spPr>
          <a:xfrm>
            <a:off x="8191500" y="1381125"/>
            <a:ext cx="285750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risk metrics</a:t>
            </a:r>
            <a:endParaRPr lang="en-US" sz="1200" dirty="0"/>
          </a:p>
        </p:txBody>
      </p:sp>
      <p:sp>
        <p:nvSpPr>
          <p:cNvPr id="17" name="Generated Text 17"/>
          <p:cNvSpPr/>
          <p:nvPr/>
        </p:nvSpPr>
        <p:spPr>
          <a:xfrm>
            <a:off x="8191500" y="1762125"/>
            <a:ext cx="2857500" cy="1952625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E[Π]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σ[Π]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P(Π &lt; 0)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VaR5%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CVaR5%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median / 95th percentile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and Service-Time Evidence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representative station has 13 chargers and non-exponential service time.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pic>
        <p:nvPicPr>
          <p:cNvPr id="11" name="fig_charger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42950" y="1301948"/>
            <a:ext cx="5191125" cy="3244453"/>
          </a:xfrm>
          <a:prstGeom prst="rect">
            <a:avLst/>
          </a:prstGeom>
        </p:spPr>
      </p:pic>
      <p:pic>
        <p:nvPicPr>
          <p:cNvPr id="12" name="fig_duration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143625" y="1301948"/>
            <a:ext cx="5191125" cy="3244453"/>
          </a:xfrm>
          <a:prstGeom prst="rect">
            <a:avLst/>
          </a:prstGeom>
        </p:spPr>
      </p:pic>
      <p:sp>
        <p:nvSpPr>
          <p:cNvPr id="13" name="Generated Text 13"/>
          <p:cNvSpPr/>
          <p:nvPr/>
        </p:nvSpPr>
        <p:spPr>
          <a:xfrm>
            <a:off x="762000" y="4762500"/>
            <a:ext cx="5095875" cy="5524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Charger count is right-skewed; c = 13 is a representative station average.</a:t>
            </a:r>
            <a:endParaRPr lang="en-US" sz="1050" dirty="0"/>
          </a:p>
        </p:txBody>
      </p:sp>
      <p:sp>
        <p:nvSpPr>
          <p:cNvPr id="14" name="Generated Text 14"/>
          <p:cNvSpPr/>
          <p:nvPr/>
        </p:nvSpPr>
        <p:spPr>
          <a:xfrm>
            <a:off x="6143625" y="4762500"/>
            <a:ext cx="5095875" cy="5524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time is less variable than exponential, supporting the M/G/c correction.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Mean, Heavy Downside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profit is positive, but loss-making days remain frequent.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pic>
        <p:nvPicPr>
          <p:cNvPr id="11" name="Profit distribution"/>
          <p:cNvPicPr/>
          <p:nvPr/>
        </p:nvPicPr>
        <p:blipFill>
          <a:blip r:embed="rId2"/>
          <a:stretch>
            <a:fillRect/>
          </a:stretch>
        </p:blipFill>
        <p:spPr>
          <a:xfrm>
            <a:off x="590550" y="1325761"/>
            <a:ext cx="6715125" cy="4196953"/>
          </a:xfrm>
          <a:prstGeom prst="rect">
            <a:avLst/>
          </a:prstGeom>
        </p:spPr>
      </p:pic>
      <p:sp>
        <p:nvSpPr>
          <p:cNvPr id="12" name="Generated Text 12"/>
          <p:cNvSpPr/>
          <p:nvPr/>
        </p:nvSpPr>
        <p:spPr>
          <a:xfrm>
            <a:off x="5715000" y="1638300"/>
            <a:ext cx="1428750" cy="4953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8575" tIns="28575" rIns="28575" bIns="28575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VaR5% = -210.35</a:t>
            </a:r>
            <a:endParaRPr lang="en-US" sz="720" dirty="0"/>
          </a:p>
          <a:p>
            <a:pPr marL="0" indent="0" algn="l">
              <a:buNone/>
            </a:pPr>
            <a:r>
              <a:rPr lang="en-US" sz="7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CVaR5% = -221.81</a:t>
            </a:r>
            <a:endParaRPr lang="en-US" sz="720" dirty="0"/>
          </a:p>
        </p:txBody>
      </p:sp>
      <p:sp>
        <p:nvSpPr>
          <p:cNvPr id="13" name="Generated Text 13"/>
          <p:cNvSpPr/>
          <p:nvPr/>
        </p:nvSpPr>
        <p:spPr>
          <a:xfrm>
            <a:off x="7524750" y="1381125"/>
            <a:ext cx="15716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86.42</a:t>
            </a:r>
            <a:endParaRPr lang="en-US" sz="1950" dirty="0"/>
          </a:p>
        </p:txBody>
      </p:sp>
      <p:sp>
        <p:nvSpPr>
          <p:cNvPr id="14" name="Generated Text 14"/>
          <p:cNvSpPr/>
          <p:nvPr/>
        </p:nvSpPr>
        <p:spPr>
          <a:xfrm>
            <a:off x="7524750" y="1914525"/>
            <a:ext cx="15716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E[Π] RMB/day</a:t>
            </a:r>
            <a:endParaRPr lang="en-US" sz="800" dirty="0"/>
          </a:p>
        </p:txBody>
      </p:sp>
      <p:sp>
        <p:nvSpPr>
          <p:cNvPr id="15" name="Generated Text 15"/>
          <p:cNvSpPr/>
          <p:nvPr/>
        </p:nvSpPr>
        <p:spPr>
          <a:xfrm>
            <a:off x="9334500" y="1381125"/>
            <a:ext cx="15716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198.75</a:t>
            </a:r>
            <a:endParaRPr lang="en-US" sz="1950" dirty="0"/>
          </a:p>
        </p:txBody>
      </p:sp>
      <p:sp>
        <p:nvSpPr>
          <p:cNvPr id="16" name="Generated Text 16"/>
          <p:cNvSpPr/>
          <p:nvPr/>
        </p:nvSpPr>
        <p:spPr>
          <a:xfrm>
            <a:off x="9334500" y="1914525"/>
            <a:ext cx="15716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σ[Π] RMB/day</a:t>
            </a:r>
            <a:endParaRPr lang="en-US" sz="800" dirty="0"/>
          </a:p>
        </p:txBody>
      </p:sp>
      <p:sp>
        <p:nvSpPr>
          <p:cNvPr id="17" name="Generated Text 17"/>
          <p:cNvSpPr/>
          <p:nvPr/>
        </p:nvSpPr>
        <p:spPr>
          <a:xfrm>
            <a:off x="7524750" y="2571750"/>
            <a:ext cx="15716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37.1%</a:t>
            </a:r>
            <a:endParaRPr lang="en-US" sz="1950" dirty="0"/>
          </a:p>
        </p:txBody>
      </p:sp>
      <p:sp>
        <p:nvSpPr>
          <p:cNvPr id="18" name="Generated Text 18"/>
          <p:cNvSpPr/>
          <p:nvPr/>
        </p:nvSpPr>
        <p:spPr>
          <a:xfrm>
            <a:off x="7524750" y="3105150"/>
            <a:ext cx="15716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P(Π&lt;0)</a:t>
            </a:r>
            <a:endParaRPr lang="en-US" sz="800" dirty="0"/>
          </a:p>
        </p:txBody>
      </p:sp>
      <p:sp>
        <p:nvSpPr>
          <p:cNvPr id="19" name="Generated Text 19"/>
          <p:cNvSpPr/>
          <p:nvPr/>
        </p:nvSpPr>
        <p:spPr>
          <a:xfrm>
            <a:off x="9334500" y="2571750"/>
            <a:ext cx="15716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-210.35</a:t>
            </a:r>
            <a:endParaRPr lang="en-US" sz="1950" dirty="0"/>
          </a:p>
        </p:txBody>
      </p:sp>
      <p:sp>
        <p:nvSpPr>
          <p:cNvPr id="20" name="Generated Text 20"/>
          <p:cNvSpPr/>
          <p:nvPr/>
        </p:nvSpPr>
        <p:spPr>
          <a:xfrm>
            <a:off x="9334500" y="3105150"/>
            <a:ext cx="15716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VaR5% RMB</a:t>
            </a:r>
            <a:endParaRPr lang="en-US" sz="800" dirty="0"/>
          </a:p>
        </p:txBody>
      </p:sp>
      <p:sp>
        <p:nvSpPr>
          <p:cNvPr id="21" name="Generated Text 21"/>
          <p:cNvSpPr/>
          <p:nvPr/>
        </p:nvSpPr>
        <p:spPr>
          <a:xfrm>
            <a:off x="7524750" y="3762375"/>
            <a:ext cx="15716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-221.81</a:t>
            </a:r>
            <a:endParaRPr lang="en-US" sz="1950" dirty="0"/>
          </a:p>
        </p:txBody>
      </p:sp>
      <p:sp>
        <p:nvSpPr>
          <p:cNvPr id="22" name="Generated Text 22"/>
          <p:cNvSpPr/>
          <p:nvPr/>
        </p:nvSpPr>
        <p:spPr>
          <a:xfrm>
            <a:off x="7524750" y="4295775"/>
            <a:ext cx="15716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CVaR5% RMB</a:t>
            </a:r>
            <a:endParaRPr lang="en-US" sz="800" dirty="0"/>
          </a:p>
        </p:txBody>
      </p:sp>
      <p:sp>
        <p:nvSpPr>
          <p:cNvPr id="23" name="Generated Text 23"/>
          <p:cNvSpPr/>
          <p:nvPr/>
        </p:nvSpPr>
        <p:spPr>
          <a:xfrm>
            <a:off x="9334500" y="3762375"/>
            <a:ext cx="1571625" cy="495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38100" tIns="38100" rIns="38100" bIns="3810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436.22</a:t>
            </a:r>
            <a:endParaRPr lang="en-US" sz="1950" dirty="0"/>
          </a:p>
        </p:txBody>
      </p:sp>
      <p:sp>
        <p:nvSpPr>
          <p:cNvPr id="24" name="Generated Text 24"/>
          <p:cNvSpPr/>
          <p:nvPr/>
        </p:nvSpPr>
        <p:spPr>
          <a:xfrm>
            <a:off x="9334500" y="4295775"/>
            <a:ext cx="1571625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95th pct. RMB</a:t>
            </a:r>
            <a:endParaRPr lang="en-US" sz="800" dirty="0"/>
          </a:p>
        </p:txBody>
      </p:sp>
      <p:sp>
        <p:nvSpPr>
          <p:cNvPr id="25" name="Generated Text 25"/>
          <p:cNvSpPr/>
          <p:nvPr/>
        </p:nvSpPr>
        <p:spPr>
          <a:xfrm>
            <a:off x="7429500" y="4953000"/>
            <a:ext cx="3429000" cy="4762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profit is positive, but downside days are frequent.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 Risk Drives the Decision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profit understates cash-flow exposure.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sp>
        <p:nvSpPr>
          <p:cNvPr id="11" name="Generated Text 11"/>
          <p:cNvSpPr/>
          <p:nvPr/>
        </p:nvSpPr>
        <p:spPr>
          <a:xfrm>
            <a:off x="904875" y="1333500"/>
            <a:ext cx="314325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histogram means</a:t>
            </a:r>
            <a:endParaRPr lang="en-US" sz="1200" dirty="0"/>
          </a:p>
        </p:txBody>
      </p:sp>
      <p:sp>
        <p:nvSpPr>
          <p:cNvPr id="12" name="Generated Text 12"/>
          <p:cNvSpPr/>
          <p:nvPr/>
        </p:nvSpPr>
        <p:spPr>
          <a:xfrm>
            <a:off x="904875" y="1714500"/>
            <a:ext cx="3143250" cy="2333625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Mean profit: 86.42 RMB/day.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Median: 68.84 RMB/day.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Worst 5% days lose about 210–222 RMB.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Fixed cost makes weak-demand days fragile.</a:t>
            </a:r>
            <a:endParaRPr lang="en-US" sz="1000" dirty="0"/>
          </a:p>
        </p:txBody>
      </p:sp>
      <p:sp>
        <p:nvSpPr>
          <p:cNvPr id="13" name="Generated Text 13"/>
          <p:cNvSpPr/>
          <p:nvPr/>
        </p:nvSpPr>
        <p:spPr>
          <a:xfrm>
            <a:off x="4476750" y="1333500"/>
            <a:ext cx="6477000" cy="1285875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implication</a:t>
            </a:r>
            <a:endParaRPr lang="en-US" sz="1300" dirty="0"/>
          </a:p>
        </p:txBody>
      </p:sp>
      <p:sp>
        <p:nvSpPr>
          <p:cNvPr id="14" name="Generated Text 14"/>
          <p:cNvSpPr/>
          <p:nvPr/>
        </p:nvSpPr>
        <p:spPr>
          <a:xfrm>
            <a:off x="4762500" y="1809750"/>
            <a:ext cx="5810250" cy="4953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the station as a cash-flow risk problem, not only a revenue growth problem.</a:t>
            </a:r>
            <a:endParaRPr lang="en-US" sz="1500" dirty="0"/>
          </a:p>
        </p:txBody>
      </p:sp>
      <p:sp>
        <p:nvSpPr>
          <p:cNvPr id="15" name="Generated Text 15"/>
          <p:cNvSpPr/>
          <p:nvPr/>
        </p:nvSpPr>
        <p:spPr>
          <a:xfrm>
            <a:off x="4476750" y="3048000"/>
            <a:ext cx="647700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Left-tail controls</a:t>
            </a:r>
            <a:endParaRPr lang="en-US" sz="1200" dirty="0"/>
          </a:p>
        </p:txBody>
      </p:sp>
      <p:sp>
        <p:nvSpPr>
          <p:cNvPr id="16" name="Generated Text 16"/>
          <p:cNvSpPr/>
          <p:nvPr/>
        </p:nvSpPr>
        <p:spPr>
          <a:xfrm>
            <a:off x="4476750" y="3429000"/>
            <a:ext cx="6477000" cy="10477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Calibrate cash reserve to VaR/CVaR, not mean profit.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peak pricing and procurement hedging to protect downside days.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Watch utilisation before congestion becomes visible.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Congestion Has a Nonlinear Threshold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growth turns dwell time into an accelerating penalty.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pic>
        <p:nvPicPr>
          <p:cNvPr id="11" name="Queue sensitivity"/>
          <p:cNvPicPr/>
          <p:nvPr/>
        </p:nvPicPr>
        <p:blipFill>
          <a:blip r:embed="rId2"/>
          <a:stretch>
            <a:fillRect/>
          </a:stretch>
        </p:blipFill>
        <p:spPr>
          <a:xfrm>
            <a:off x="590550" y="1519238"/>
            <a:ext cx="6858000" cy="3810000"/>
          </a:xfrm>
          <a:prstGeom prst="rect">
            <a:avLst/>
          </a:prstGeom>
        </p:spPr>
      </p:pic>
      <p:sp>
        <p:nvSpPr>
          <p:cNvPr id="12" name="Generated Text 12"/>
          <p:cNvSpPr/>
          <p:nvPr/>
        </p:nvSpPr>
        <p:spPr>
          <a:xfrm>
            <a:off x="7715250" y="1381125"/>
            <a:ext cx="314325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reading</a:t>
            </a:r>
            <a:endParaRPr lang="en-US" sz="1200" dirty="0"/>
          </a:p>
        </p:txBody>
      </p:sp>
      <p:sp>
        <p:nvSpPr>
          <p:cNvPr id="13" name="Generated Text 13"/>
          <p:cNvSpPr/>
          <p:nvPr/>
        </p:nvSpPr>
        <p:spPr>
          <a:xfrm>
            <a:off x="7715250" y="1762125"/>
            <a:ext cx="3143250" cy="12573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 baseline, waiting is limited.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demand rises, utilisation approaches nonlinear congestion.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ρ = 0.8 is a practical warning line.</a:t>
            </a:r>
            <a:endParaRPr lang="en-US" sz="950" dirty="0"/>
          </a:p>
        </p:txBody>
      </p:sp>
      <p:sp>
        <p:nvSpPr>
          <p:cNvPr id="14" name="Generated Text 14"/>
          <p:cNvSpPr/>
          <p:nvPr/>
        </p:nvSpPr>
        <p:spPr>
          <a:xfrm>
            <a:off x="7715250" y="3381375"/>
            <a:ext cx="314325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Managerial signal</a:t>
            </a:r>
            <a:endParaRPr lang="en-US" sz="1200" dirty="0"/>
          </a:p>
        </p:txBody>
      </p:sp>
      <p:sp>
        <p:nvSpPr>
          <p:cNvPr id="15" name="Generated Text 15"/>
          <p:cNvSpPr/>
          <p:nvPr/>
        </p:nvSpPr>
        <p:spPr>
          <a:xfrm>
            <a:off x="7715250" y="3762375"/>
            <a:ext cx="3143250" cy="7620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queueing curve turns dwell time into a capacity trigger.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Is the Largest Profit Lever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results separate controllable levers from external risks.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pic>
        <p:nvPicPr>
          <p:cNvPr id="11" name="Tornado sensitivity"/>
          <p:cNvPicPr/>
          <p:nvPr/>
        </p:nvPicPr>
        <p:blipFill>
          <a:blip r:embed="rId2"/>
          <a:stretch>
            <a:fillRect/>
          </a:stretch>
        </p:blipFill>
        <p:spPr>
          <a:xfrm>
            <a:off x="602456" y="1219200"/>
            <a:ext cx="6643688" cy="4429125"/>
          </a:xfrm>
          <a:prstGeom prst="rect">
            <a:avLst/>
          </a:prstGeom>
        </p:spPr>
      </p:pic>
      <p:sp>
        <p:nvSpPr>
          <p:cNvPr id="12" name="Generated Text 12"/>
          <p:cNvSpPr/>
          <p:nvPr/>
        </p:nvSpPr>
        <p:spPr>
          <a:xfrm>
            <a:off x="7524750" y="1381125"/>
            <a:ext cx="333375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driver</a:t>
            </a:r>
            <a:endParaRPr lang="en-US" sz="1200" dirty="0"/>
          </a:p>
        </p:txBody>
      </p:sp>
      <p:sp>
        <p:nvSpPr>
          <p:cNvPr id="13" name="Generated Text 13"/>
          <p:cNvSpPr/>
          <p:nvPr/>
        </p:nvSpPr>
        <p:spPr>
          <a:xfrm>
            <a:off x="7524750" y="1809750"/>
            <a:ext cx="3333750" cy="5524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 rate λ</a:t>
            </a:r>
            <a:endParaRPr lang="en-US" sz="2050" dirty="0"/>
          </a:p>
        </p:txBody>
      </p:sp>
      <p:sp>
        <p:nvSpPr>
          <p:cNvPr id="14" name="Generated Text 14"/>
          <p:cNvSpPr/>
          <p:nvPr/>
        </p:nvSpPr>
        <p:spPr>
          <a:xfrm>
            <a:off x="7524750" y="2905125"/>
            <a:ext cx="333375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classification</a:t>
            </a:r>
            <a:endParaRPr lang="en-US" sz="1200" dirty="0"/>
          </a:p>
        </p:txBody>
      </p:sp>
      <p:sp>
        <p:nvSpPr>
          <p:cNvPr id="15" name="Generated Text 15"/>
          <p:cNvSpPr/>
          <p:nvPr/>
        </p:nvSpPr>
        <p:spPr>
          <a:xfrm>
            <a:off x="7524750" y="3286125"/>
            <a:ext cx="3333750" cy="13144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Controllable: service fee, capacity, dwell mitigation.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Partly controllable: demand shaping.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External: electricity price risk.</a:t>
            </a:r>
            <a:endParaRPr lang="en-US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Review Before the Cliff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Dwell-time penalty rises sharply near the congestion region.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pic>
        <p:nvPicPr>
          <p:cNvPr id="11" name="Dwell penalty response"/>
          <p:cNvPicPr/>
          <p:nvPr/>
        </p:nvPicPr>
        <p:blipFill>
          <a:blip r:embed="rId2"/>
          <a:stretch>
            <a:fillRect/>
          </a:stretch>
        </p:blipFill>
        <p:spPr>
          <a:xfrm>
            <a:off x="590550" y="1519238"/>
            <a:ext cx="6858000" cy="3810000"/>
          </a:xfrm>
          <a:prstGeom prst="rect">
            <a:avLst/>
          </a:prstGeom>
        </p:spPr>
      </p:pic>
      <p:sp>
        <p:nvSpPr>
          <p:cNvPr id="12" name="Generated Text 12"/>
          <p:cNvSpPr/>
          <p:nvPr/>
        </p:nvSpPr>
        <p:spPr>
          <a:xfrm>
            <a:off x="7715250" y="1381125"/>
            <a:ext cx="314325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trigger</a:t>
            </a:r>
            <a:endParaRPr lang="en-US" sz="1200" dirty="0"/>
          </a:p>
        </p:txBody>
      </p:sp>
      <p:sp>
        <p:nvSpPr>
          <p:cNvPr id="13" name="Generated Text 13"/>
          <p:cNvSpPr/>
          <p:nvPr/>
        </p:nvSpPr>
        <p:spPr>
          <a:xfrm>
            <a:off x="7715250" y="1809750"/>
            <a:ext cx="3143250" cy="66675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ρ &gt; 0.5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peak utilisation</a:t>
            </a:r>
            <a:endParaRPr lang="en-US" sz="1400" dirty="0"/>
          </a:p>
        </p:txBody>
      </p:sp>
      <p:sp>
        <p:nvSpPr>
          <p:cNvPr id="14" name="Generated Text 14"/>
          <p:cNvSpPr/>
          <p:nvPr/>
        </p:nvSpPr>
        <p:spPr>
          <a:xfrm>
            <a:off x="7715250" y="3000375"/>
            <a:ext cx="3143250" cy="3238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before 0.8?</a:t>
            </a:r>
            <a:endParaRPr lang="en-US" sz="1200" dirty="0"/>
          </a:p>
        </p:txBody>
      </p:sp>
      <p:sp>
        <p:nvSpPr>
          <p:cNvPr id="15" name="Generated Text 15"/>
          <p:cNvSpPr/>
          <p:nvPr/>
        </p:nvSpPr>
        <p:spPr>
          <a:xfrm>
            <a:off x="7715250" y="3381375"/>
            <a:ext cx="3143250" cy="10668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33350" tIns="133350" rIns="133350" bIns="13335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Installation lead time is not immediate.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Waiting until visible congestion makes expansion late.</a:t>
            </a:r>
            <a:endParaRPr lang="en-US" sz="9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109728" cy="5349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5" name="Generated Text 5"/>
          <p:cNvSpPr/>
          <p:nvPr/>
        </p:nvSpPr>
        <p:spPr>
          <a:xfrm>
            <a:off x="495300" y="381000"/>
            <a:ext cx="552450" cy="26670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Generated Text 6"/>
          <p:cNvSpPr/>
          <p:nvPr/>
        </p:nvSpPr>
        <p:spPr>
          <a:xfrm>
            <a:off x="1143000" y="295275"/>
            <a:ext cx="7239000" cy="400050"/>
          </a:xfrm>
          <a:prstGeom prst="rect">
            <a:avLst/>
          </a:prstGeom>
          <a:noFill/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Managerial Playbook</a:t>
            </a:r>
            <a:endParaRPr lang="en-US" sz="2200" dirty="0"/>
          </a:p>
        </p:txBody>
      </p:sp>
      <p:sp>
        <p:nvSpPr>
          <p:cNvPr id="7" name="Generated Text 7"/>
          <p:cNvSpPr/>
          <p:nvPr/>
        </p:nvSpPr>
        <p:spPr>
          <a:xfrm>
            <a:off x="1143000" y="762000"/>
            <a:ext cx="7620000" cy="2286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simulation results into pricing, expansion, and procurement actions.</a:t>
            </a:r>
            <a:endParaRPr lang="en-US" sz="880" dirty="0"/>
          </a:p>
        </p:txBody>
      </p:sp>
      <p:sp>
        <p:nvSpPr>
          <p:cNvPr id="8" name="Generated Text 8"/>
          <p:cNvSpPr/>
          <p:nvPr/>
        </p:nvSpPr>
        <p:spPr>
          <a:xfrm>
            <a:off x="9810750" y="552450"/>
            <a:ext cx="180975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BA3093 Simulation and Risk Analysis</a:t>
            </a:r>
            <a:endParaRPr lang="en-US" sz="700" dirty="0"/>
          </a:p>
        </p:txBody>
      </p:sp>
      <p:sp>
        <p:nvSpPr>
          <p:cNvPr id="9" name="Generated Text 9"/>
          <p:cNvSpPr/>
          <p:nvPr/>
        </p:nvSpPr>
        <p:spPr>
          <a:xfrm>
            <a:off x="495300" y="6553200"/>
            <a:ext cx="4762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Charging Station Queueing · Monte Carlo Simulation · Risk Analysis</a:t>
            </a:r>
            <a:endParaRPr lang="en-US" sz="650" dirty="0"/>
          </a:p>
        </p:txBody>
      </p:sp>
      <p:sp>
        <p:nvSpPr>
          <p:cNvPr id="10" name="Generated Text 10"/>
          <p:cNvSpPr/>
          <p:nvPr/>
        </p:nvSpPr>
        <p:spPr>
          <a:xfrm>
            <a:off x="9334500" y="6553200"/>
            <a:ext cx="2095500" cy="17145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G Defense Deck</a:t>
            </a:r>
            <a:endParaRPr lang="en-US" sz="650" dirty="0"/>
          </a:p>
        </p:txBody>
      </p:sp>
      <p:sp>
        <p:nvSpPr>
          <p:cNvPr id="11" name="Generated Text 11"/>
          <p:cNvSpPr/>
          <p:nvPr/>
        </p:nvSpPr>
        <p:spPr>
          <a:xfrm>
            <a:off x="762000" y="1295400"/>
            <a:ext cx="2905125" cy="2047875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CDD6E0"/>
            </a:solidFill>
          </a:ln>
        </p:spPr>
        <p:txBody>
          <a:bodyPr wrap="square" lIns="171450" tIns="171450" rIns="171450" bIns="17145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01</a:t>
            </a:r>
            <a:endParaRPr lang="en-US" sz="980" dirty="0"/>
          </a:p>
          <a:p>
            <a:pPr marL="0" indent="0" algn="l">
              <a:buNone/>
            </a:pPr>
            <a:endParaRPr lang="en-US" sz="980" dirty="0"/>
          </a:p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peak-hour pricing</a:t>
            </a:r>
            <a:endParaRPr lang="en-US" sz="980" dirty="0"/>
          </a:p>
          <a:p>
            <a:pPr marL="0" indent="0" algn="l">
              <a:buNone/>
            </a:pPr>
            <a:endParaRPr lang="en-US" sz="980" dirty="0"/>
          </a:p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peak ρ &gt; 0.5, introduce a 15%–25% peak service-fee premium.</a:t>
            </a:r>
            <a:endParaRPr lang="en-US" sz="980" dirty="0"/>
          </a:p>
        </p:txBody>
      </p:sp>
      <p:sp>
        <p:nvSpPr>
          <p:cNvPr id="12" name="Generated Text 12"/>
          <p:cNvSpPr/>
          <p:nvPr/>
        </p:nvSpPr>
        <p:spPr>
          <a:xfrm>
            <a:off x="4333875" y="1295400"/>
            <a:ext cx="2905125" cy="2047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txBody>
          <a:bodyPr wrap="square" lIns="171450" tIns="171450" rIns="171450" bIns="17145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02</a:t>
            </a:r>
            <a:endParaRPr lang="en-US" sz="980" dirty="0"/>
          </a:p>
          <a:p>
            <a:pPr marL="0" indent="0" algn="l">
              <a:buNone/>
            </a:pPr>
            <a:endParaRPr lang="en-US" sz="980" dirty="0"/>
          </a:p>
          <a:p>
            <a:pPr marL="0" indent="0" algn="l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Data-triggered expansion</a:t>
            </a:r>
            <a:endParaRPr lang="en-US" sz="980" dirty="0"/>
          </a:p>
          <a:p>
            <a:pPr marL="0" indent="0" algn="l">
              <a:buNone/>
            </a:pPr>
            <a:endParaRPr lang="en-US" sz="980" dirty="0"/>
          </a:p>
          <a:p>
            <a:pPr marL="0" indent="0" algn="l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procurement/site planning when 30-day peak utilisation stays above 0.5.</a:t>
            </a:r>
            <a:endParaRPr lang="en-US" sz="980" dirty="0"/>
          </a:p>
        </p:txBody>
      </p:sp>
      <p:sp>
        <p:nvSpPr>
          <p:cNvPr id="13" name="Generated Text 13"/>
          <p:cNvSpPr/>
          <p:nvPr/>
        </p:nvSpPr>
        <p:spPr>
          <a:xfrm>
            <a:off x="7905750" y="1295400"/>
            <a:ext cx="2905125" cy="2047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0"/>
            </a:solidFill>
          </a:ln>
        </p:spPr>
        <p:txBody>
          <a:bodyPr wrap="square" lIns="171450" tIns="171450" rIns="171450" bIns="17145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03</a:t>
            </a:r>
            <a:endParaRPr lang="en-US" sz="980" dirty="0"/>
          </a:p>
          <a:p>
            <a:pPr marL="0" indent="0" algn="l">
              <a:buNone/>
            </a:pPr>
            <a:endParaRPr lang="en-US" sz="980" dirty="0"/>
          </a:p>
          <a:p>
            <a:pPr marL="0" indent="0" algn="l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hedge</a:t>
            </a:r>
            <a:endParaRPr lang="en-US" sz="980" dirty="0"/>
          </a:p>
          <a:p>
            <a:pPr marL="0" indent="0" algn="l">
              <a:buNone/>
            </a:pPr>
            <a:endParaRPr lang="en-US" sz="980" dirty="0"/>
          </a:p>
          <a:p>
            <a:pPr marL="0" indent="0" algn="l">
              <a:buNone/>
            </a:pPr>
            <a:r>
              <a:rPr lang="en-US" sz="9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or cap 50%–60% of expected monthly electricity demand.</a:t>
            </a:r>
            <a:endParaRPr lang="en-US" sz="980" dirty="0"/>
          </a:p>
        </p:txBody>
      </p:sp>
      <p:sp>
        <p:nvSpPr>
          <p:cNvPr id="14" name="Generated Text 14"/>
          <p:cNvSpPr/>
          <p:nvPr/>
        </p:nvSpPr>
        <p:spPr>
          <a:xfrm>
            <a:off x="762000" y="3790950"/>
            <a:ext cx="5000625" cy="3048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to RQ1</a:t>
            </a:r>
            <a:endParaRPr lang="en-US" sz="1150" dirty="0"/>
          </a:p>
        </p:txBody>
      </p:sp>
      <p:sp>
        <p:nvSpPr>
          <p:cNvPr id="15" name="Generated Text 15"/>
          <p:cNvSpPr/>
          <p:nvPr/>
        </p:nvSpPr>
        <p:spPr>
          <a:xfrm>
            <a:off x="762000" y="4171950"/>
            <a:ext cx="5000625" cy="7620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profit is positive, but the risk profile is fragile: P(loss) = 37.1%, VaR5% = -210.35 RMB, CVaR5% = -221.81 RMB.</a:t>
            </a:r>
            <a:endParaRPr lang="en-US" sz="1000" dirty="0"/>
          </a:p>
        </p:txBody>
      </p:sp>
      <p:sp>
        <p:nvSpPr>
          <p:cNvPr id="16" name="Generated Text 16"/>
          <p:cNvSpPr/>
          <p:nvPr/>
        </p:nvSpPr>
        <p:spPr>
          <a:xfrm>
            <a:off x="6124575" y="3790950"/>
            <a:ext cx="5429250" cy="304800"/>
          </a:xfrm>
          <a:prstGeom prst="rect">
            <a:avLst/>
          </a:prstGeom>
          <a:noFill/>
          <a:ln/>
        </p:spPr>
        <p:txBody>
          <a:bodyPr wrap="square" lIns="95250" tIns="95250" rIns="95250" bIns="9525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B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to RQ2</a:t>
            </a:r>
            <a:endParaRPr lang="en-US" sz="1150" dirty="0"/>
          </a:p>
        </p:txBody>
      </p:sp>
      <p:sp>
        <p:nvSpPr>
          <p:cNvPr id="17" name="Generated Text 17"/>
          <p:cNvSpPr/>
          <p:nvPr/>
        </p:nvSpPr>
        <p:spPr>
          <a:xfrm>
            <a:off x="6124575" y="4171950"/>
            <a:ext cx="5429250" cy="7620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CDD6E0"/>
            </a:solidFill>
          </a:ln>
        </p:spPr>
        <p:txBody>
          <a:bodyPr wrap="square" lIns="152400" tIns="152400" rIns="152400" bIns="15240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pressure and total dwell time convert operational congestion into financial risk.</a:t>
            </a:r>
            <a:endParaRPr lang="en-US" sz="1050" dirty="0"/>
          </a:p>
        </p:txBody>
      </p:sp>
      <p:sp>
        <p:nvSpPr>
          <p:cNvPr id="18" name="Generated Text 18"/>
          <p:cNvSpPr/>
          <p:nvPr/>
        </p:nvSpPr>
        <p:spPr>
          <a:xfrm>
            <a:off x="781050" y="5619750"/>
            <a:ext cx="10763250" cy="36195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takeaway: connect queueing-based dwell-time cost to financial downside risk.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1511</Words>
  <Application>Microsoft Macintosh PowerPoint</Application>
  <PresentationFormat>宽屏</PresentationFormat>
  <Paragraphs>255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Aptos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Charging Station Simulation &amp; Risk Analysis Template</dc:title>
  <dc:subject>Academic defense PowerPoint template for EV charging queueing and Monte Carlo risk analysis</dc:subject>
  <dc:creator>OpenAI</dc:creator>
  <cp:lastModifiedBy>朱泽林</cp:lastModifiedBy>
  <cp:revision>2</cp:revision>
  <dcterms:created xsi:type="dcterms:W3CDTF">2026-05-06T15:47:16Z</dcterms:created>
  <dcterms:modified xsi:type="dcterms:W3CDTF">2026-05-07T05:51:24Z</dcterms:modified>
</cp:coreProperties>
</file>